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微软雅黑" panose="020B0503020204020204" charset="-122"/>
              </a:rPr>
              <a:t>青禾工作室 · Q2产品运营分析报告</a:t>
            </a:r>
            <a:endParaRPr sz="4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7D2FE"/>
                </a:solidFill>
                <a:latin typeface="微软雅黑" panose="020B0503020204020204" charset="-122"/>
              </a:rPr>
              <a:t>2026年第二季度 · 产品收入分析与策略复盘</a:t>
            </a:r>
            <a:endParaRPr sz="2000" b="0">
              <a:solidFill>
                <a:srgbClr val="C7D2FE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9B6D8"/>
                </a:solidFill>
                <a:latin typeface="微软雅黑" panose="020B0503020204020204" charset="-122"/>
              </a:rPr>
              <a:t>编制人：周然  |  汇报日期：2026-07-05  |  版本：v1.0</a:t>
            </a:r>
            <a:endParaRPr sz="1300" b="0">
              <a:solidFill>
                <a:srgbClr val="A9B6D8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 panose="020B0503020204020204" charset="-122"/>
              </a:rPr>
              <a:t>工作室概况</a:t>
            </a:r>
            <a:endParaRPr sz="2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F2A44"/>
                </a:solidFill>
                <a:latin typeface="微软雅黑" panose="020B0503020204020204" charset="-122"/>
              </a:rPr>
              <a:t>青禾工作室（Qinghe Studio）</a:t>
            </a:r>
            <a:endParaRPr sz="1500">
              <a:solidFill>
                <a:srgbClr val="1F2A44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2A44"/>
                </a:solidFill>
                <a:latin typeface="微软雅黑" panose="020B0503020204020204" charset="-122"/>
              </a:rPr>
              <a:t>创立时间：2025年9月</a:t>
            </a:r>
            <a:endParaRPr sz="1500">
              <a:solidFill>
                <a:srgbClr val="1F2A44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2A44"/>
                </a:solidFill>
                <a:latin typeface="微软雅黑" panose="020B0503020204020204" charset="-122"/>
              </a:rPr>
              <a:t>运营模式：1人 + N个AI智能体</a:t>
            </a:r>
            <a:endParaRPr sz="1500">
              <a:solidFill>
                <a:srgbClr val="1F2A44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2A44"/>
                </a:solidFill>
                <a:latin typeface="微软雅黑" panose="020B0503020204020204" charset="-122"/>
              </a:rPr>
              <a:t>产品线：18个数字产品（APP/插件/模板/课程/素材/工具）</a:t>
            </a:r>
            <a:endParaRPr sz="1500">
              <a:solidFill>
                <a:srgbClr val="1F2A44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2A44"/>
                </a:solidFill>
                <a:latin typeface="微软雅黑" panose="020B0503020204020204" charset="-122"/>
              </a:rPr>
              <a:t>AI工具链：17种AI工具覆盖写作/编程/设计/文案/运营/分析</a:t>
            </a:r>
            <a:endParaRPr sz="1500">
              <a:solidFill>
                <a:srgbClr val="1F2A44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2A44"/>
                </a:solidFill>
                <a:latin typeface="微软雅黑" panose="020B0503020204020204" charset="-122"/>
              </a:rPr>
              <a:t>客户数：15个核心客户（个人/团队/企业）</a:t>
            </a:r>
            <a:endParaRPr sz="1500">
              <a:solidFill>
                <a:srgbClr val="1F2A44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2A44"/>
                </a:solidFill>
                <a:latin typeface="微软雅黑" panose="020B0503020204020204" charset="-122"/>
              </a:rPr>
              <a:t>Q2关键事件：明星产品收入下降28%</a:t>
            </a:r>
            <a:r>
              <a:rPr sz="1200" b="1">
                <a:solidFill>
                  <a:srgbClr val="FF8C42"/>
                </a:solidFill>
                <a:latin typeface="微软雅黑" panose="020B0503020204020204" charset="-122"/>
              </a:rPr>
              <a:t>  PPT中使用的产品名称：灵犀写作插件</a:t>
            </a:r>
            <a:endParaRPr sz="1200" b="1">
              <a:solidFill>
                <a:srgbClr val="FF8C42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4297680"/>
            <a:ext cx="2560320" cy="1280160"/>
          </a:xfrm>
          <a:prstGeom prst="rect">
            <a:avLst/>
          </a:prstGeom>
          <a:solidFill>
            <a:srgbClr val="F2F5FC"/>
          </a:solidFill>
          <a:ln>
            <a:solidFill>
              <a:srgbClr val="2E5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44348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2E5BFF"/>
                </a:solidFill>
                <a:latin typeface="微软雅黑" panose="020B0503020204020204" charset="-122"/>
              </a:rPr>
              <a:t>18</a:t>
            </a:r>
            <a:endParaRPr sz="2600" b="1">
              <a:solidFill>
                <a:srgbClr val="2E5BFF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50292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78F"/>
                </a:solidFill>
                <a:latin typeface="微软雅黑" panose="020B0503020204020204" charset="-122"/>
              </a:rPr>
              <a:t>数字产品</a:t>
            </a:r>
            <a:endParaRPr sz="1100" b="0">
              <a:solidFill>
                <a:srgbClr val="6B778F"/>
              </a:solidFill>
              <a:latin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383280" y="4297680"/>
            <a:ext cx="2560320" cy="1280160"/>
          </a:xfrm>
          <a:prstGeom prst="rect">
            <a:avLst/>
          </a:prstGeom>
          <a:solidFill>
            <a:srgbClr val="F2F5FC"/>
          </a:solidFill>
          <a:ln>
            <a:solidFill>
              <a:srgbClr val="2E5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44348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2E5BFF"/>
                </a:solidFill>
                <a:latin typeface="微软雅黑" panose="020B0503020204020204" charset="-122"/>
              </a:rPr>
              <a:t>17</a:t>
            </a:r>
            <a:endParaRPr sz="2600" b="1">
              <a:solidFill>
                <a:srgbClr val="2E5BFF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83280" y="50292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78F"/>
                </a:solidFill>
                <a:latin typeface="微软雅黑" panose="020B0503020204020204" charset="-122"/>
              </a:rPr>
              <a:t>AI工具</a:t>
            </a:r>
            <a:endParaRPr sz="1100" b="0">
              <a:solidFill>
                <a:srgbClr val="6B778F"/>
              </a:solidFill>
              <a:latin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17920" y="4297680"/>
            <a:ext cx="2560320" cy="1280160"/>
          </a:xfrm>
          <a:prstGeom prst="rect">
            <a:avLst/>
          </a:prstGeom>
          <a:solidFill>
            <a:srgbClr val="F2F5FC"/>
          </a:solidFill>
          <a:ln>
            <a:solidFill>
              <a:srgbClr val="2E5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44348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2E5BFF"/>
                </a:solidFill>
                <a:latin typeface="微软雅黑" panose="020B0503020204020204" charset="-122"/>
              </a:rPr>
              <a:t>15</a:t>
            </a:r>
            <a:endParaRPr sz="2600" b="1">
              <a:solidFill>
                <a:srgbClr val="2E5BFF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217920" y="50292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78F"/>
                </a:solidFill>
                <a:latin typeface="微软雅黑" panose="020B0503020204020204" charset="-122"/>
              </a:rPr>
              <a:t>核心客户</a:t>
            </a:r>
            <a:endParaRPr sz="1100" b="0">
              <a:solidFill>
                <a:srgbClr val="6B778F"/>
              </a:solidFill>
              <a:latin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052560" y="4297680"/>
            <a:ext cx="2560320" cy="1280160"/>
          </a:xfrm>
          <a:prstGeom prst="rect">
            <a:avLst/>
          </a:prstGeom>
          <a:solidFill>
            <a:srgbClr val="F2F5FC"/>
          </a:solidFill>
          <a:ln>
            <a:solidFill>
              <a:srgbClr val="2E5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0" y="44348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2E5BFF"/>
                </a:solidFill>
                <a:latin typeface="微软雅黑" panose="020B0503020204020204" charset="-122"/>
              </a:rPr>
              <a:t>14</a:t>
            </a:r>
            <a:endParaRPr sz="2600" b="1">
              <a:solidFill>
                <a:srgbClr val="2E5BFF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052560" y="50292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78F"/>
                </a:solidFill>
                <a:latin typeface="微软雅黑" panose="020B0503020204020204" charset="-122"/>
              </a:rPr>
              <a:t>数据资产</a:t>
            </a:r>
            <a:endParaRPr sz="1100" b="0">
              <a:solidFill>
                <a:srgbClr val="6B778F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48640" y="571500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78F"/>
                </a:solidFill>
                <a:latin typeface="微软雅黑" panose="020B0503020204020204" charset="-122"/>
              </a:rPr>
              <a:t>注：四类实体（产品/AI工具/客户/数据）共64个</a:t>
            </a:r>
            <a:endParaRPr sz="1000" b="0">
              <a:solidFill>
                <a:srgbClr val="6B778F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48640" y="544068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78F"/>
                </a:solidFill>
                <a:latin typeface="微软雅黑" panose="020B0503020204020204" charset="-122"/>
              </a:rPr>
              <a:t>Q2核心事件概览：· 4月12日：全局定价策略变更（免费增值 → 订阅制：8.9元/月基础，25.9元/月高级）· 5月2日：墨文创作台 v2→v3升级，灵犀写作插件（PPT称呼）出现兼容性问题，停更2周· 5月22日：创意素材包V2停售由V3替代；文案助手功能并入周报精灵 · 6月1日：Q2收入确认，灵犀写作插件收入9.9万→7.1万，下降28%· 归因分析：定价策略贡献-16%，工具升级兼容性贡献-12%</a:t>
            </a:r>
            <a:endParaRPr sz="900" b="0">
              <a:solidFill>
                <a:srgbClr val="6B778F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B778F"/>
                </a:solidFill>
                <a:latin typeface="微软雅黑" panose="020B0503020204020204" charset="-122"/>
              </a:rPr>
              <a:t>青禾工作室 · 2026年Q2运营分析 · 编制人周然</a:t>
            </a:r>
            <a:endParaRPr sz="900" b="0">
              <a:solidFill>
                <a:srgbClr val="6B778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 panose="020B0503020204020204" charset="-122"/>
              </a:rPr>
              <a:t>灵犀写作插件 · 月度收入趋势（2025.10 - 2026.06）</a:t>
            </a:r>
            <a:endParaRPr sz="2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微软雅黑" panose="020B0503020204020204" charset="-122"/>
              </a:rPr>
              <a:t>续费率变化趋势</a:t>
            </a:r>
            <a:endParaRPr sz="1300" b="1">
              <a:solidFill>
                <a:srgbClr val="1F2A44"/>
              </a:solidFill>
              <a:latin typeface="微软雅黑" panose="020B0503020204020204" charset="-122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54480"/>
          <a:ext cx="1106424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0605"/>
                <a:gridCol w="1580605"/>
                <a:gridCol w="1580605"/>
                <a:gridCol w="1580605"/>
                <a:gridCol w="1580605"/>
                <a:gridCol w="1580605"/>
                <a:gridCol w="158061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月份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2E5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1月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2E5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2月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2E5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3月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2E5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4月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2E5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5月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2E5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6月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2E5B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  <a:latin typeface="微软雅黑" panose="020B0503020204020204" charset="-122"/>
                        </a:rPr>
                        <a:t>续费率</a:t>
                      </a:r>
                      <a:endParaRPr sz="1100">
                        <a:solidFill>
                          <a:srgbClr val="1F2A44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  <a:latin typeface="微软雅黑" panose="020B0503020204020204" charset="-122"/>
                        </a:rPr>
                        <a:t>91%</a:t>
                      </a:r>
                      <a:endParaRPr sz="1100">
                        <a:solidFill>
                          <a:srgbClr val="1F2A44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  <a:latin typeface="微软雅黑" panose="020B0503020204020204" charset="-122"/>
                        </a:rPr>
                        <a:t>89%</a:t>
                      </a:r>
                      <a:endParaRPr sz="1100">
                        <a:solidFill>
                          <a:srgbClr val="1F2A44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  <a:latin typeface="微软雅黑" panose="020B0503020204020204" charset="-122"/>
                        </a:rPr>
                        <a:t>85%</a:t>
                      </a:r>
                      <a:endParaRPr sz="1100">
                        <a:solidFill>
                          <a:srgbClr val="1F2A44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  <a:latin typeface="微软雅黑" panose="020B0503020204020204" charset="-122"/>
                        </a:rPr>
                        <a:t>82%</a:t>
                      </a:r>
                      <a:endParaRPr sz="1100">
                        <a:solidFill>
                          <a:srgbClr val="1F2A44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  <a:latin typeface="微软雅黑" panose="020B0503020204020204" charset="-122"/>
                        </a:rPr>
                        <a:t>74%</a:t>
                      </a:r>
                      <a:endParaRPr sz="1100">
                        <a:solidFill>
                          <a:srgbClr val="1F2A44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  <a:latin typeface="微软雅黑" panose="020B0503020204020204" charset="-122"/>
                        </a:rPr>
                        <a:t>66%</a:t>
                      </a:r>
                      <a:endParaRPr sz="1100">
                        <a:solidFill>
                          <a:srgbClr val="1F2A44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2651760"/>
            <a:ext cx="110642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1F2A44"/>
                </a:solidFill>
                <a:latin typeface="微软雅黑" panose="020B0503020204020204" charset="-122"/>
              </a:rPr>
              <a:t>关键节点：</a:t>
            </a:r>
            <a:endParaRPr sz="1400" b="1">
              <a:solidFill>
                <a:srgbClr val="1F2A44"/>
              </a:solidFill>
              <a:latin typeface="微软雅黑" panose="020B0503020204020204" charset="-122"/>
            </a:endParaRP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A44"/>
                </a:solidFill>
                <a:latin typeface="微软雅黑" panose="020B0503020204020204" charset="-122"/>
              </a:rPr>
              <a:t>· 3月：收入峰值9.9万元</a:t>
            </a:r>
            <a:endParaRPr sz="1400" b="0">
              <a:solidFill>
                <a:srgbClr val="1F2A44"/>
              </a:solidFill>
              <a:latin typeface="微软雅黑" panose="020B0503020204020204" charset="-122"/>
            </a:endParaRP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A44"/>
                </a:solidFill>
                <a:latin typeface="微软雅黑" panose="020B0503020204020204" charset="-122"/>
              </a:rPr>
              <a:t>· 4月12日：定价变更 → 9.5万</a:t>
            </a:r>
            <a:endParaRPr sz="1400" b="0">
              <a:solidFill>
                <a:srgbClr val="1F2A44"/>
              </a:solidFill>
              <a:latin typeface="微软雅黑" panose="020B0503020204020204" charset="-122"/>
            </a:endParaRP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A44"/>
                </a:solidFill>
                <a:latin typeface="微软雅黑" panose="020B0503020204020204" charset="-122"/>
              </a:rPr>
              <a:t>· 5月2日：墨文创作台 v3 兼容性问题 → 8.2万</a:t>
            </a:r>
            <a:endParaRPr sz="1400" b="0">
              <a:solidFill>
                <a:srgbClr val="1F2A44"/>
              </a:solidFill>
              <a:latin typeface="微软雅黑" panose="020B0503020204020204" charset="-122"/>
            </a:endParaRP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A44"/>
                </a:solidFill>
                <a:latin typeface="微软雅黑" panose="020B0503020204020204" charset="-122"/>
              </a:rPr>
              <a:t>· 6月：续费率降至66%，收入7.1万</a:t>
            </a:r>
            <a:endParaRPr sz="1400" b="0">
              <a:solidFill>
                <a:srgbClr val="1F2A44"/>
              </a:solidFill>
              <a:latin typeface="微软雅黑" panose="020B0503020204020204" charset="-122"/>
            </a:endParaRP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A44"/>
                </a:solidFill>
                <a:latin typeface="微软雅黑" panose="020B0503020204020204" charset="-122"/>
              </a:rPr>
              <a:t>· 较峰值下降28%</a:t>
            </a:r>
            <a:endParaRPr sz="1400" b="0">
              <a:solidFill>
                <a:srgbClr val="1F2A44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B778F"/>
                </a:solidFill>
                <a:latin typeface="微软雅黑" panose="020B0503020204020204" charset="-122"/>
              </a:rPr>
              <a:t>青禾工作室 · 2026年Q2运营分析 · 编制人周然</a:t>
            </a:r>
            <a:endParaRPr sz="900" b="0">
              <a:solidFill>
                <a:srgbClr val="6B778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 panose="020B0503020204020204" charset="-122"/>
              </a:rPr>
              <a:t>各产品Q2收入与续费率对比</a:t>
            </a:r>
            <a:endParaRPr sz="2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88720"/>
          <a:ext cx="1106424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737360"/>
                <a:gridCol w="1737360"/>
                <a:gridCol w="1737360"/>
                <a:gridCol w="1645920"/>
                <a:gridCol w="1828800"/>
              </a:tblGrid>
              <a:tr h="34544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产品名称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2E5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4月收入(万)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2E5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5月收入(万)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2E5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6月收入(万)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2E5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续费率(6月)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2E5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趋势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2E5BFF"/>
                    </a:solidFill>
                  </a:tcPr>
                </a:tc>
              </a:tr>
              <a:tr h="34544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  <a:latin typeface="微软雅黑" panose="020B0503020204020204" charset="-122"/>
                        </a:rPr>
                        <a:t>灵犀写作插件(P03)</a:t>
                      </a:r>
                      <a:endParaRPr sz="1100">
                        <a:solidFill>
                          <a:srgbClr val="1F2A44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  <a:latin typeface="微软雅黑" panose="020B0503020204020204" charset="-122"/>
                        </a:rPr>
                        <a:t>9.5</a:t>
                      </a:r>
                      <a:endParaRPr sz="1100">
                        <a:solidFill>
                          <a:srgbClr val="1F2A44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  <a:latin typeface="微软雅黑" panose="020B0503020204020204" charset="-122"/>
                        </a:rPr>
                        <a:t>8.2</a:t>
                      </a:r>
                      <a:endParaRPr sz="1100">
                        <a:solidFill>
                          <a:srgbClr val="1F2A44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  <a:latin typeface="微软雅黑" panose="020B0503020204020204" charset="-122"/>
                        </a:rPr>
                        <a:t>7.1</a:t>
                      </a:r>
                      <a:endParaRPr sz="1100">
                        <a:solidFill>
                          <a:srgbClr val="1F2A44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  <a:latin typeface="微软雅黑" panose="020B0503020204020204" charset="-122"/>
                        </a:rPr>
                        <a:t>66%</a:t>
                      </a:r>
                      <a:endParaRPr sz="1100">
                        <a:solidFill>
                          <a:srgbClr val="1F2A44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  <a:latin typeface="微软雅黑" panose="020B0503020204020204" charset="-122"/>
                        </a:rPr>
                        <a:t>下降28%</a:t>
                      </a:r>
                      <a:endParaRPr sz="1100">
                        <a:solidFill>
                          <a:srgbClr val="1F2A44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544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  <a:latin typeface="微软雅黑" panose="020B0503020204020204" charset="-122"/>
                        </a:rPr>
                        <a:t>灵记日记</a:t>
                      </a:r>
                      <a:endParaRPr sz="1100">
                        <a:solidFill>
                          <a:srgbClr val="1F2A44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  <a:latin typeface="微软雅黑" panose="020B0503020204020204" charset="-122"/>
                        </a:rPr>
                        <a:t>1.1</a:t>
                      </a:r>
                      <a:endParaRPr sz="1100">
                        <a:solidFill>
                          <a:srgbClr val="1F2A44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  <a:latin typeface="微软雅黑" panose="020B0503020204020204" charset="-122"/>
                        </a:rPr>
                        <a:t>0.9</a:t>
                      </a:r>
                      <a:endParaRPr sz="1100">
                        <a:solidFill>
                          <a:srgbClr val="1F2A44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  <a:latin typeface="微软雅黑" panose="020B0503020204020204" charset="-122"/>
                        </a:rPr>
                        <a:t>0.8</a:t>
                      </a:r>
                      <a:endParaRPr sz="1100">
                        <a:solidFill>
                          <a:srgbClr val="1F2A44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  <a:latin typeface="微软雅黑" panose="020B0503020204020204" charset="-122"/>
                        </a:rPr>
                        <a:t>80%</a:t>
                      </a:r>
                      <a:endParaRPr sz="1100">
                        <a:solidFill>
                          <a:srgbClr val="1F2A44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  <a:latin typeface="微软雅黑" panose="020B0503020204020204" charset="-122"/>
                        </a:rPr>
                        <a:t>下降23%</a:t>
                      </a:r>
                      <a:endParaRPr sz="1100">
                        <a:solidFill>
                          <a:srgbClr val="1F2A44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2F5FC"/>
                    </a:solidFill>
                  </a:tcPr>
                </a:tc>
              </a:tr>
              <a:tr h="34544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  <a:latin typeface="微软雅黑" panose="020B0503020204020204" charset="-122"/>
                        </a:rPr>
                        <a:t>文案进阶课</a:t>
                      </a:r>
                      <a:endParaRPr sz="1100">
                        <a:solidFill>
                          <a:srgbClr val="1F2A44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  <a:latin typeface="微软雅黑" panose="020B0503020204020204" charset="-122"/>
                        </a:rPr>
                        <a:t>2.8</a:t>
                      </a:r>
                      <a:endParaRPr sz="1100">
                        <a:solidFill>
                          <a:srgbClr val="1F2A44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  <a:latin typeface="微软雅黑" panose="020B0503020204020204" charset="-122"/>
                        </a:rPr>
                        <a:t>2.5</a:t>
                      </a:r>
                      <a:endParaRPr sz="1100">
                        <a:solidFill>
                          <a:srgbClr val="1F2A44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  <a:latin typeface="微软雅黑" panose="020B0503020204020204" charset="-122"/>
                        </a:rPr>
                        <a:t>2.2</a:t>
                      </a:r>
                      <a:endParaRPr sz="1100">
                        <a:solidFill>
                          <a:srgbClr val="1F2A44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  <a:latin typeface="微软雅黑" panose="020B0503020204020204" charset="-122"/>
                        </a:rPr>
                        <a:t>100%</a:t>
                      </a:r>
                      <a:endParaRPr sz="1100">
                        <a:solidFill>
                          <a:srgbClr val="1F2A44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  <a:latin typeface="微软雅黑" panose="020B0503020204020204" charset="-122"/>
                        </a:rPr>
                        <a:t>稳定(未纳入订阅制)</a:t>
                      </a:r>
                      <a:endParaRPr sz="1100">
                        <a:solidFill>
                          <a:srgbClr val="1F2A44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544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  <a:latin typeface="微软雅黑" panose="020B0503020204020204" charset="-122"/>
                        </a:rPr>
                        <a:t>创意素材包V2</a:t>
                      </a:r>
                      <a:endParaRPr sz="1100">
                        <a:solidFill>
                          <a:srgbClr val="1F2A44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  <a:latin typeface="微软雅黑" panose="020B0503020204020204" charset="-122"/>
                        </a:rPr>
                        <a:t>1.6</a:t>
                      </a:r>
                      <a:endParaRPr sz="1100">
                        <a:solidFill>
                          <a:srgbClr val="1F2A44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  <a:latin typeface="微软雅黑" panose="020B0503020204020204" charset="-122"/>
                        </a:rPr>
                        <a:t>0.2(停售)</a:t>
                      </a:r>
                      <a:endParaRPr sz="1100">
                        <a:solidFill>
                          <a:srgbClr val="1F2A44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  <a:latin typeface="微软雅黑" panose="020B0503020204020204" charset="-122"/>
                        </a:rPr>
                        <a:t>—</a:t>
                      </a:r>
                      <a:endParaRPr sz="1100">
                        <a:solidFill>
                          <a:srgbClr val="1F2A44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  <a:latin typeface="微软雅黑" panose="020B0503020204020204" charset="-122"/>
                        </a:rPr>
                        <a:t>—</a:t>
                      </a:r>
                      <a:endParaRPr sz="1100">
                        <a:solidFill>
                          <a:srgbClr val="1F2A44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  <a:latin typeface="微软雅黑" panose="020B0503020204020204" charset="-122"/>
                        </a:rPr>
                        <a:t>5月22日停售</a:t>
                      </a:r>
                      <a:endParaRPr sz="1100">
                        <a:solidFill>
                          <a:srgbClr val="1F2A44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2F5FC"/>
                    </a:solidFill>
                  </a:tcPr>
                </a:tc>
              </a:tr>
              <a:tr h="34544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  <a:latin typeface="微软雅黑" panose="020B0503020204020204" charset="-122"/>
                        </a:rPr>
                        <a:t>创意素材包V3</a:t>
                      </a:r>
                      <a:endParaRPr sz="1100">
                        <a:solidFill>
                          <a:srgbClr val="1F2A44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  <a:latin typeface="微软雅黑" panose="020B0503020204020204" charset="-122"/>
                        </a:rPr>
                        <a:t>—</a:t>
                      </a:r>
                      <a:endParaRPr sz="1100">
                        <a:solidFill>
                          <a:srgbClr val="1F2A44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  <a:latin typeface="微软雅黑" panose="020B0503020204020204" charset="-122"/>
                        </a:rPr>
                        <a:t>0.8</a:t>
                      </a:r>
                      <a:endParaRPr sz="1100">
                        <a:solidFill>
                          <a:srgbClr val="1F2A44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  <a:latin typeface="微软雅黑" panose="020B0503020204020204" charset="-122"/>
                        </a:rPr>
                        <a:t>1.3</a:t>
                      </a:r>
                      <a:endParaRPr sz="1100">
                        <a:solidFill>
                          <a:srgbClr val="1F2A44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  <a:latin typeface="微软雅黑" panose="020B0503020204020204" charset="-122"/>
                        </a:rPr>
                        <a:t>87%</a:t>
                      </a:r>
                      <a:endParaRPr sz="1100">
                        <a:solidFill>
                          <a:srgbClr val="1F2A44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  <a:latin typeface="微软雅黑" panose="020B0503020204020204" charset="-122"/>
                        </a:rPr>
                        <a:t>新上线(评分3.4/5)</a:t>
                      </a:r>
                      <a:endParaRPr sz="1100">
                        <a:solidFill>
                          <a:srgbClr val="1F2A44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544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  <a:latin typeface="微软雅黑" panose="020B0503020204020204" charset="-122"/>
                        </a:rPr>
                        <a:t>接口调试大师</a:t>
                      </a:r>
                      <a:endParaRPr sz="1100">
                        <a:solidFill>
                          <a:srgbClr val="1F2A44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  <a:latin typeface="微软雅黑" panose="020B0503020204020204" charset="-122"/>
                        </a:rPr>
                        <a:t>1.9</a:t>
                      </a:r>
                      <a:endParaRPr sz="1100">
                        <a:solidFill>
                          <a:srgbClr val="1F2A44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  <a:latin typeface="微软雅黑" panose="020B0503020204020204" charset="-122"/>
                        </a:rPr>
                        <a:t>1.7</a:t>
                      </a:r>
                      <a:endParaRPr sz="1100">
                        <a:solidFill>
                          <a:srgbClr val="1F2A44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  <a:latin typeface="微软雅黑" panose="020B0503020204020204" charset="-122"/>
                        </a:rPr>
                        <a:t>1.5</a:t>
                      </a:r>
                      <a:endParaRPr sz="1100">
                        <a:solidFill>
                          <a:srgbClr val="1F2A44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  <a:latin typeface="微软雅黑" panose="020B0503020204020204" charset="-122"/>
                        </a:rPr>
                        <a:t>85%</a:t>
                      </a:r>
                      <a:endParaRPr sz="1100">
                        <a:solidFill>
                          <a:srgbClr val="1F2A44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  <a:latin typeface="微软雅黑" panose="020B0503020204020204" charset="-122"/>
                        </a:rPr>
                        <a:t>下降21%</a:t>
                      </a:r>
                      <a:endParaRPr sz="1100">
                        <a:solidFill>
                          <a:srgbClr val="1F2A44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2F5FC"/>
                    </a:solidFill>
                  </a:tcPr>
                </a:tc>
              </a:tr>
              <a:tr h="34544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  <a:latin typeface="微软雅黑" panose="020B0503020204020204" charset="-122"/>
                        </a:rPr>
                        <a:t>周报精灵</a:t>
                      </a:r>
                      <a:endParaRPr sz="1100">
                        <a:solidFill>
                          <a:srgbClr val="1F2A44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  <a:latin typeface="微软雅黑" panose="020B0503020204020204" charset="-122"/>
                        </a:rPr>
                        <a:t>0.7</a:t>
                      </a:r>
                      <a:endParaRPr sz="1100">
                        <a:solidFill>
                          <a:srgbClr val="1F2A44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  <a:latin typeface="微软雅黑" panose="020B0503020204020204" charset="-122"/>
                        </a:rPr>
                        <a:t>0.8</a:t>
                      </a:r>
                      <a:endParaRPr sz="1100">
                        <a:solidFill>
                          <a:srgbClr val="1F2A44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  <a:latin typeface="微软雅黑" panose="020B0503020204020204" charset="-122"/>
                        </a:rPr>
                        <a:t>0.9</a:t>
                      </a:r>
                      <a:endParaRPr sz="1100">
                        <a:solidFill>
                          <a:srgbClr val="1F2A44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  <a:latin typeface="微软雅黑" panose="020B0503020204020204" charset="-122"/>
                        </a:rPr>
                        <a:t>91%</a:t>
                      </a:r>
                      <a:endParaRPr sz="1100">
                        <a:solidFill>
                          <a:srgbClr val="1F2A44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  <a:latin typeface="微软雅黑" panose="020B0503020204020204" charset="-122"/>
                        </a:rPr>
                        <a:t>增长28%</a:t>
                      </a:r>
                      <a:endParaRPr sz="1100">
                        <a:solidFill>
                          <a:srgbClr val="1F2A44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544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  <a:latin typeface="微软雅黑" panose="020B0503020204020204" charset="-122"/>
                        </a:rPr>
                        <a:t>数据可视化插件</a:t>
                      </a:r>
                      <a:endParaRPr sz="1100">
                        <a:solidFill>
                          <a:srgbClr val="1F2A44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  <a:latin typeface="微软雅黑" panose="020B0503020204020204" charset="-122"/>
                        </a:rPr>
                        <a:t>1.3</a:t>
                      </a:r>
                      <a:endParaRPr sz="1100">
                        <a:solidFill>
                          <a:srgbClr val="1F2A44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  <a:latin typeface="微软雅黑" panose="020B0503020204020204" charset="-122"/>
                        </a:rPr>
                        <a:t>1.2</a:t>
                      </a:r>
                      <a:endParaRPr sz="1100">
                        <a:solidFill>
                          <a:srgbClr val="1F2A44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  <a:latin typeface="微软雅黑" panose="020B0503020204020204" charset="-122"/>
                        </a:rPr>
                        <a:t>1.1</a:t>
                      </a:r>
                      <a:endParaRPr sz="1100">
                        <a:solidFill>
                          <a:srgbClr val="1F2A44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  <a:latin typeface="微软雅黑" panose="020B0503020204020204" charset="-122"/>
                        </a:rPr>
                        <a:t>84%</a:t>
                      </a:r>
                      <a:endParaRPr sz="1100">
                        <a:solidFill>
                          <a:srgbClr val="1F2A44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  <a:latin typeface="微软雅黑" panose="020B0503020204020204" charset="-122"/>
                        </a:rPr>
                        <a:t>下降15%</a:t>
                      </a:r>
                      <a:endParaRPr sz="1100">
                        <a:solidFill>
                          <a:srgbClr val="1F2A44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2F5F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480560"/>
            <a:ext cx="11064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1F2A44"/>
                </a:solidFill>
                <a:latin typeface="微软雅黑" panose="020B0503020204020204" charset="-122"/>
              </a:rPr>
              <a:t>分析要点：</a:t>
            </a:r>
            <a:endParaRPr sz="1300" b="1">
              <a:solidFill>
                <a:srgbClr val="1F2A44"/>
              </a:solidFill>
              <a:latin typeface="微软雅黑" panose="020B0503020204020204" charset="-122"/>
            </a:endParaRP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A44"/>
                </a:solidFill>
                <a:latin typeface="微软雅黑" panose="020B0503020204020204" charset="-122"/>
              </a:rPr>
              <a:t>· 定价变更对订阅制产品影响最大，灵犀写作插件受双重打击（定价+兼容性）下降最严重</a:t>
            </a:r>
            <a:endParaRPr sz="1300" b="0">
              <a:solidFill>
                <a:srgbClr val="1F2A44"/>
              </a:solidFill>
              <a:latin typeface="微软雅黑" panose="020B0503020204020204" charset="-122"/>
            </a:endParaRP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A44"/>
                </a:solidFill>
                <a:latin typeface="微软雅黑" panose="020B0503020204020204" charset="-122"/>
              </a:rPr>
              <a:t>· 文案进阶课作为一次性买断产品，不受订阅制影响，续费率维持100%</a:t>
            </a:r>
            <a:endParaRPr sz="1300" b="0">
              <a:solidFill>
                <a:srgbClr val="1F2A44"/>
              </a:solidFill>
              <a:latin typeface="微软雅黑" panose="020B0503020204020204" charset="-122"/>
            </a:endParaRP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A44"/>
                </a:solidFill>
                <a:latin typeface="微软雅黑" panose="020B0503020204020204" charset="-122"/>
              </a:rPr>
              <a:t>· 创意素材包V3虽为新上线产品，但稳定性问题（评分3.4/5）影响续费</a:t>
            </a:r>
            <a:endParaRPr sz="1300" b="0">
              <a:solidFill>
                <a:srgbClr val="1F2A44"/>
              </a:solidFill>
              <a:latin typeface="微软雅黑" panose="020B0503020204020204" charset="-122"/>
            </a:endParaRP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A44"/>
                </a:solidFill>
                <a:latin typeface="微软雅黑" panose="020B0503020204020204" charset="-122"/>
              </a:rPr>
              <a:t>· 周报精灵因并入文案助手功能，反而出现增长</a:t>
            </a:r>
            <a:endParaRPr sz="1300" b="0">
              <a:solidFill>
                <a:srgbClr val="1F2A44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B778F"/>
                </a:solidFill>
                <a:latin typeface="微软雅黑" panose="020B0503020204020204" charset="-122"/>
              </a:rPr>
              <a:t>青禾工作室 · 2026年Q2运营分析 · 编制人周然</a:t>
            </a:r>
            <a:endParaRPr sz="900" b="0">
              <a:solidFill>
                <a:srgbClr val="6B778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 panose="020B0503020204020204" charset="-122"/>
              </a:rPr>
              <a:t>定价策略AB实验结果</a:t>
            </a:r>
            <a:endParaRPr sz="2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78F"/>
                </a:solidFill>
                <a:latin typeface="微软雅黑" panose="020B0503020204020204" charset="-122"/>
              </a:rPr>
              <a:t>实验编号：AB-2026-0321 | 实验时间：2026年3月21日 - 4月5日 | 负责人：周然</a:t>
            </a:r>
            <a:endParaRPr sz="1200" b="0">
              <a:solidFill>
                <a:srgbClr val="6B778F"/>
              </a:solidFill>
              <a:latin typeface="微软雅黑" panose="020B0503020204020204" charset="-122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54480"/>
          <a:ext cx="694944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737360"/>
                <a:gridCol w="1737360"/>
                <a:gridCol w="1737360"/>
              </a:tblGrid>
              <a:tr h="431074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指标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2E5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A组(免费增值)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2E5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B组(订阅制)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2E5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差异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2E5BFF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  <a:latin typeface="微软雅黑" panose="020B0503020204020204" charset="-122"/>
                        </a:rPr>
                        <a:t>样本量</a:t>
                      </a:r>
                      <a:endParaRPr sz="1200">
                        <a:solidFill>
                          <a:srgbClr val="1F2A44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  <a:latin typeface="微软雅黑" panose="020B0503020204020204" charset="-122"/>
                        </a:rPr>
                        <a:t>600用户</a:t>
                      </a:r>
                      <a:endParaRPr sz="1200">
                        <a:solidFill>
                          <a:srgbClr val="1F2A44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  <a:latin typeface="微软雅黑" panose="020B0503020204020204" charset="-122"/>
                        </a:rPr>
                        <a:t>600用户</a:t>
                      </a:r>
                      <a:endParaRPr sz="1200">
                        <a:solidFill>
                          <a:srgbClr val="1F2A44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  <a:latin typeface="微软雅黑" panose="020B0503020204020204" charset="-122"/>
                        </a:rPr>
                        <a:t>—</a:t>
                      </a:r>
                      <a:endParaRPr sz="1200">
                        <a:solidFill>
                          <a:srgbClr val="1F2A44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  <a:latin typeface="微软雅黑" panose="020B0503020204020204" charset="-122"/>
                        </a:rPr>
                        <a:t>7日留存率</a:t>
                      </a:r>
                      <a:endParaRPr sz="1200">
                        <a:solidFill>
                          <a:srgbClr val="1F2A44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  <a:latin typeface="微软雅黑" panose="020B0503020204020204" charset="-122"/>
                        </a:rPr>
                        <a:t>32%</a:t>
                      </a:r>
                      <a:endParaRPr sz="1200">
                        <a:solidFill>
                          <a:srgbClr val="1F2A44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  <a:latin typeface="微软雅黑" panose="020B0503020204020204" charset="-122"/>
                        </a:rPr>
                        <a:t>26%</a:t>
                      </a:r>
                      <a:endParaRPr sz="1200">
                        <a:solidFill>
                          <a:srgbClr val="1F2A44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  <a:latin typeface="微软雅黑" panose="020B0503020204020204" charset="-122"/>
                        </a:rPr>
                        <a:t>-6%</a:t>
                      </a:r>
                      <a:endParaRPr sz="1200">
                        <a:solidFill>
                          <a:srgbClr val="1F2A44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2F5FC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  <a:latin typeface="微软雅黑" panose="020B0503020204020204" charset="-122"/>
                        </a:rPr>
                        <a:t>30日留存率</a:t>
                      </a:r>
                      <a:endParaRPr sz="1200">
                        <a:solidFill>
                          <a:srgbClr val="1F2A44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  <a:latin typeface="微软雅黑" panose="020B0503020204020204" charset="-122"/>
                        </a:rPr>
                        <a:t>17%</a:t>
                      </a:r>
                      <a:endParaRPr sz="1200">
                        <a:solidFill>
                          <a:srgbClr val="1F2A44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  <a:latin typeface="微软雅黑" panose="020B0503020204020204" charset="-122"/>
                        </a:rPr>
                        <a:t>24%</a:t>
                      </a:r>
                      <a:endParaRPr sz="1200">
                        <a:solidFill>
                          <a:srgbClr val="1F2A44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  <a:latin typeface="微软雅黑" panose="020B0503020204020204" charset="-122"/>
                        </a:rPr>
                        <a:t>+7%</a:t>
                      </a:r>
                      <a:endParaRPr sz="1200">
                        <a:solidFill>
                          <a:srgbClr val="1F2A44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  <a:latin typeface="微软雅黑" panose="020B0503020204020204" charset="-122"/>
                        </a:rPr>
                        <a:t>90日LTV</a:t>
                      </a:r>
                      <a:endParaRPr sz="1200">
                        <a:solidFill>
                          <a:srgbClr val="1F2A44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  <a:latin typeface="微软雅黑" panose="020B0503020204020204" charset="-122"/>
                        </a:rPr>
                        <a:t>47.0元</a:t>
                      </a:r>
                      <a:endParaRPr sz="1200">
                        <a:solidFill>
                          <a:srgbClr val="1F2A44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  <a:latin typeface="微软雅黑" panose="020B0503020204020204" charset="-122"/>
                        </a:rPr>
                        <a:t>78.0元</a:t>
                      </a:r>
                      <a:endParaRPr sz="1200">
                        <a:solidFill>
                          <a:srgbClr val="1F2A44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  <a:latin typeface="微软雅黑" panose="020B0503020204020204" charset="-122"/>
                        </a:rPr>
                        <a:t>+66%</a:t>
                      </a:r>
                      <a:endParaRPr sz="1200">
                        <a:solidFill>
                          <a:srgbClr val="1F2A44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2F5FC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  <a:latin typeface="微软雅黑" panose="020B0503020204020204" charset="-122"/>
                        </a:rPr>
                        <a:t>付费转化率</a:t>
                      </a:r>
                      <a:endParaRPr sz="1200">
                        <a:solidFill>
                          <a:srgbClr val="1F2A44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  <a:latin typeface="微软雅黑" panose="020B0503020204020204" charset="-122"/>
                        </a:rPr>
                        <a:t>7.6%</a:t>
                      </a:r>
                      <a:endParaRPr sz="1200">
                        <a:solidFill>
                          <a:srgbClr val="1F2A44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  <a:latin typeface="微软雅黑" panose="020B0503020204020204" charset="-122"/>
                        </a:rPr>
                        <a:t>4.8%</a:t>
                      </a:r>
                      <a:endParaRPr sz="1200">
                        <a:solidFill>
                          <a:srgbClr val="1F2A44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  <a:latin typeface="微软雅黑" panose="020B0503020204020204" charset="-122"/>
                        </a:rPr>
                        <a:t>-2.8%</a:t>
                      </a:r>
                      <a:endParaRPr sz="1200">
                        <a:solidFill>
                          <a:srgbClr val="1F2A44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1076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  <a:latin typeface="微软雅黑" panose="020B0503020204020204" charset="-122"/>
                        </a:rPr>
                        <a:t>月均收入/用户</a:t>
                      </a:r>
                      <a:endParaRPr sz="1200">
                        <a:solidFill>
                          <a:srgbClr val="1F2A44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  <a:latin typeface="微软雅黑" panose="020B0503020204020204" charset="-122"/>
                        </a:rPr>
                        <a:t>2.1元</a:t>
                      </a:r>
                      <a:endParaRPr sz="1200">
                        <a:solidFill>
                          <a:srgbClr val="1F2A44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  <a:latin typeface="微软雅黑" panose="020B0503020204020204" charset="-122"/>
                        </a:rPr>
                        <a:t>3.8元</a:t>
                      </a:r>
                      <a:endParaRPr sz="1200">
                        <a:solidFill>
                          <a:srgbClr val="1F2A44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  <a:latin typeface="微软雅黑" panose="020B0503020204020204" charset="-122"/>
                        </a:rPr>
                        <a:t>+81%</a:t>
                      </a:r>
                      <a:endParaRPr sz="1200">
                        <a:solidFill>
                          <a:srgbClr val="1F2A44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2F5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0" y="201168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8C42"/>
                </a:solidFill>
                <a:latin typeface="微软雅黑" panose="020B0503020204020204" charset="-122"/>
              </a:rPr>
              <a:t>实验结论</a:t>
            </a:r>
            <a:endParaRPr sz="1400" b="1">
              <a:solidFill>
                <a:srgbClr val="FF8C42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72400" y="2377440"/>
            <a:ext cx="39319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00">
                <a:solidFill>
                  <a:srgbClr val="1F2A44"/>
                </a:solidFill>
                <a:latin typeface="微软雅黑" panose="020B0503020204020204" charset="-122"/>
              </a:rPr>
              <a:t>1. 订阅制短期转化率下降，但长期LTV显著提升（+66%）</a:t>
            </a:r>
            <a:endParaRPr sz="1000">
              <a:solidFill>
                <a:srgbClr val="1F2A44"/>
              </a:solidFill>
              <a:latin typeface="微软雅黑" panose="020B0503020204020204" charset="-122"/>
            </a:endParaRP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1F2A44"/>
                </a:solidFill>
                <a:latin typeface="微软雅黑" panose="020B0503020204020204" charset="-122"/>
              </a:rPr>
              <a:t>2. 30日留存率提升7个百分点，订阅制有助于用户粘性</a:t>
            </a:r>
            <a:endParaRPr sz="1000">
              <a:solidFill>
                <a:srgbClr val="1F2A44"/>
              </a:solidFill>
              <a:latin typeface="微软雅黑" panose="020B0503020204020204" charset="-122"/>
            </a:endParaRP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1F2A44"/>
                </a:solidFill>
                <a:latin typeface="微软雅黑" panose="020B0503020204020204" charset="-122"/>
              </a:rPr>
              <a:t>3. 决策：4月12日全面切换为订阅制 基础功能：8.9元/月 高级功能：25.9元/月</a:t>
            </a:r>
            <a:endParaRPr sz="1000">
              <a:solidFill>
                <a:srgbClr val="1F2A44"/>
              </a:solidFill>
              <a:latin typeface="微软雅黑" panose="020B0503020204020204" charset="-122"/>
            </a:endParaRP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1F2A44"/>
                </a:solidFill>
                <a:latin typeface="微软雅黑" panose="020B0503020204020204" charset="-122"/>
              </a:rPr>
              <a:t>4. 风险预案：课程类产品维持一次买断不变</a:t>
            </a:r>
            <a:endParaRPr sz="1000">
              <a:solidFill>
                <a:srgbClr val="1F2A44"/>
              </a:solidFill>
              <a:latin typeface="微软雅黑" panose="020B0503020204020204" charset="-122"/>
            </a:endParaRP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1F2A44"/>
                </a:solidFill>
                <a:latin typeface="微软雅黑" panose="020B0503020204020204" charset="-122"/>
              </a:rPr>
              <a:t>5. 后续验证：Q3持续监控LTV与流失率</a:t>
            </a:r>
            <a:endParaRPr sz="1000">
              <a:solidFill>
                <a:srgbClr val="1F2A44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1">
                <a:solidFill>
                  <a:srgbClr val="6B778F"/>
                </a:solidFill>
                <a:latin typeface="微软雅黑" panose="020B0503020204020204" charset="-122"/>
              </a:rPr>
              <a:t>AB实验独有参数（仅PPT记录）：</a:t>
            </a:r>
            <a:endParaRPr sz="1000" b="1">
              <a:solidFill>
                <a:srgbClr val="6B778F"/>
              </a:solidFill>
              <a:latin typeface="微软雅黑" panose="020B0503020204020204" charset="-122"/>
            </a:endParaRP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6B778F"/>
                </a:solidFill>
                <a:latin typeface="微软雅黑" panose="020B0503020204020204" charset="-122"/>
              </a:rPr>
              <a:t>· 实验编号：AB-2026-0321</a:t>
            </a:r>
            <a:endParaRPr sz="1000" b="0">
              <a:solidFill>
                <a:srgbClr val="6B778F"/>
              </a:solidFill>
              <a:latin typeface="微软雅黑" panose="020B0503020204020204" charset="-122"/>
            </a:endParaRP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6B778F"/>
                </a:solidFill>
                <a:latin typeface="微软雅黑" panose="020B0503020204020204" charset="-122"/>
              </a:rPr>
              <a:t>· 分流方式：用户ID哈希随机分流</a:t>
            </a:r>
            <a:endParaRPr sz="1000" b="0">
              <a:solidFill>
                <a:srgbClr val="6B778F"/>
              </a:solidFill>
              <a:latin typeface="微软雅黑" panose="020B0503020204020204" charset="-122"/>
            </a:endParaRP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6B778F"/>
                </a:solidFill>
                <a:latin typeface="微软雅黑" panose="020B0503020204020204" charset="-122"/>
              </a:rPr>
              <a:t>· 统计显著性：p值 &lt; 0.05</a:t>
            </a:r>
            <a:endParaRPr sz="1000" b="0">
              <a:solidFill>
                <a:srgbClr val="6B778F"/>
              </a:solidFill>
              <a:latin typeface="微软雅黑" panose="020B0503020204020204" charset="-122"/>
            </a:endParaRP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6B778F"/>
                </a:solidFill>
                <a:latin typeface="微软雅黑" panose="020B0503020204020204" charset="-122"/>
              </a:rPr>
              <a:t>· 置信区间：LTV差异95%CI [14.8, 28.4]</a:t>
            </a:r>
            <a:endParaRPr sz="1000" b="0">
              <a:solidFill>
                <a:srgbClr val="6B778F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B778F"/>
                </a:solidFill>
                <a:latin typeface="微软雅黑" panose="020B0503020204020204" charset="-122"/>
              </a:rPr>
              <a:t>青禾工作室 · 2026年Q2运营分析 · 编制人周然</a:t>
            </a:r>
            <a:endParaRPr sz="900" b="0">
              <a:solidFill>
                <a:srgbClr val="6B778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 panose="020B0503020204020204" charset="-122"/>
              </a:rPr>
              <a:t>墨文创作台 v3 升级影响分析</a:t>
            </a:r>
            <a:endParaRPr sz="2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2A44"/>
                </a:solidFill>
                <a:latin typeface="微软雅黑" panose="020B0503020204020204" charset="-122"/>
              </a:rPr>
              <a:t>事件时间线（2026-05-02 → 06-01）：</a:t>
            </a:r>
            <a:endParaRPr sz="1100" b="1">
              <a:solidFill>
                <a:srgbClr val="1F2A44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1F2A44"/>
                </a:solidFill>
                <a:latin typeface="微软雅黑" panose="020B0503020204020204" charset="-122"/>
              </a:rPr>
              <a:t>墨文v3发布(05-02)</a:t>
            </a:r>
            <a:r>
              <a:rPr sz="900">
                <a:solidFill>
                  <a:srgbClr val="6B778F"/>
                </a:solidFill>
                <a:latin typeface="微软雅黑" panose="020B0503020204020204" charset="-122"/>
              </a:rPr>
              <a:t>  →  </a:t>
            </a:r>
            <a:r>
              <a:rPr sz="900">
                <a:solidFill>
                  <a:srgbClr val="1F2A44"/>
                </a:solidFill>
                <a:latin typeface="微软雅黑" panose="020B0503020204020204" charset="-122"/>
              </a:rPr>
              <a:t>P03兼容性问题(05-04)</a:t>
            </a:r>
            <a:r>
              <a:rPr sz="900">
                <a:solidFill>
                  <a:srgbClr val="6B778F"/>
                </a:solidFill>
                <a:latin typeface="微软雅黑" panose="020B0503020204020204" charset="-122"/>
              </a:rPr>
              <a:t>  →  </a:t>
            </a:r>
            <a:r>
              <a:rPr sz="900">
                <a:solidFill>
                  <a:srgbClr val="1F2A44"/>
                </a:solidFill>
                <a:latin typeface="微软雅黑" panose="020B0503020204020204" charset="-122"/>
              </a:rPr>
              <a:t>暂停v3.1回退v3.0(05-04)</a:t>
            </a:r>
            <a:r>
              <a:rPr sz="900">
                <a:solidFill>
                  <a:srgbClr val="6B778F"/>
                </a:solidFill>
                <a:latin typeface="微软雅黑" panose="020B0503020204020204" charset="-122"/>
              </a:rPr>
              <a:t>  →  </a:t>
            </a:r>
            <a:r>
              <a:rPr sz="900">
                <a:solidFill>
                  <a:srgbClr val="1F2A44"/>
                </a:solidFill>
                <a:latin typeface="微软雅黑" panose="020B0503020204020204" charset="-122"/>
              </a:rPr>
              <a:t>适配停更18天(05-10)</a:t>
            </a:r>
            <a:endParaRPr sz="900">
              <a:solidFill>
                <a:srgbClr val="1F2A44"/>
              </a:solidFill>
              <a:latin typeface="微软雅黑" panose="020B0503020204020204" charset="-122"/>
            </a:endParaRPr>
          </a:p>
          <a:p>
            <a:r>
              <a:rPr sz="900">
                <a:solidFill>
                  <a:srgbClr val="1F2A44"/>
                </a:solidFill>
                <a:latin typeface="微软雅黑" panose="020B0503020204020204" charset="-122"/>
              </a:rPr>
              <a:t>发布v3.2修复完成(05-20)</a:t>
            </a:r>
            <a:r>
              <a:rPr sz="900">
                <a:solidFill>
                  <a:srgbClr val="6B778F"/>
                </a:solidFill>
                <a:latin typeface="微软雅黑" panose="020B0503020204020204" charset="-122"/>
              </a:rPr>
              <a:t>  →  </a:t>
            </a:r>
            <a:r>
              <a:rPr sz="900">
                <a:solidFill>
                  <a:srgbClr val="1F2A44"/>
                </a:solidFill>
                <a:latin typeface="微软雅黑" panose="020B0503020204020204" charset="-122"/>
              </a:rPr>
              <a:t>续费率82%→74%(06-01)</a:t>
            </a:r>
            <a:r>
              <a:rPr sz="900">
                <a:solidFill>
                  <a:srgbClr val="6B778F"/>
                </a:solidFill>
                <a:latin typeface="微软雅黑" panose="020B0503020204020204" charset="-122"/>
              </a:rPr>
              <a:t>  →  </a:t>
            </a:r>
            <a:r>
              <a:rPr sz="900">
                <a:solidFill>
                  <a:srgbClr val="1F2A44"/>
                </a:solidFill>
                <a:latin typeface="微软雅黑" panose="020B0503020204020204" charset="-122"/>
              </a:rPr>
              <a:t>收入9.9→7.1万(06-01)</a:t>
            </a:r>
            <a:endParaRPr sz="900">
              <a:solidFill>
                <a:srgbClr val="1F2A44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8C42"/>
                </a:solidFill>
                <a:latin typeface="微软雅黑" panose="020B0503020204020204" charset="-122"/>
              </a:rPr>
              <a:t>详细影响分析</a:t>
            </a:r>
            <a:endParaRPr sz="1300" b="1">
              <a:solidFill>
                <a:srgbClr val="FF8C42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2377440"/>
            <a:ext cx="54864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>
                <a:solidFill>
                  <a:srgbClr val="1F2A44"/>
                </a:solidFill>
                <a:latin typeface="微软雅黑" panose="020B0503020204020204" charset="-122"/>
              </a:rPr>
              <a:t>1. 墨文v3文档语法变化</a:t>
            </a:r>
            <a:endParaRPr sz="1000">
              <a:solidFill>
                <a:srgbClr val="1F2A44"/>
              </a:solidFill>
              <a:latin typeface="微软雅黑" panose="020B0503020204020204" charset="-122"/>
            </a:endParaRP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F2A44"/>
                </a:solidFill>
                <a:latin typeface="微软雅黑" panose="020B0503020204020204" charset="-122"/>
              </a:rPr>
              <a:t>   · v3默认使用不同的目录结构与命名约定</a:t>
            </a:r>
            <a:endParaRPr sz="1000">
              <a:solidFill>
                <a:srgbClr val="1F2A44"/>
              </a:solidFill>
              <a:latin typeface="微软雅黑" panose="020B0503020204020204" charset="-122"/>
            </a:endParaRP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F2A44"/>
                </a:solidFill>
                <a:latin typeface="微软雅黑" panose="020B0503020204020204" charset="-122"/>
              </a:rPr>
              <a:t>   · P03插件基于v2语法训练，无法正确识别v3文档</a:t>
            </a:r>
            <a:endParaRPr sz="1000">
              <a:solidFill>
                <a:srgbClr val="1F2A44"/>
              </a:solidFill>
              <a:latin typeface="微软雅黑" panose="020B0503020204020204" charset="-122"/>
            </a:endParaRP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F2A44"/>
                </a:solidFill>
                <a:latin typeface="微软雅黑" panose="020B0503020204020204" charset="-122"/>
              </a:rPr>
              <a:t>2. 适配停更期间影响</a:t>
            </a:r>
            <a:endParaRPr sz="1000">
              <a:solidFill>
                <a:srgbClr val="1F2A44"/>
              </a:solidFill>
              <a:latin typeface="微软雅黑" panose="020B0503020204020204" charset="-122"/>
            </a:endParaRP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F2A44"/>
                </a:solidFill>
                <a:latin typeface="微软雅黑" panose="020B0503020204020204" charset="-122"/>
              </a:rPr>
              <a:t>   · P03无法更新（5月2日-5月20日）</a:t>
            </a:r>
            <a:endParaRPr sz="1000">
              <a:solidFill>
                <a:srgbClr val="1F2A44"/>
              </a:solidFill>
              <a:latin typeface="微软雅黑" panose="020B0503020204020204" charset="-122"/>
            </a:endParaRP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F2A44"/>
                </a:solidFill>
                <a:latin typeface="微软雅黑" panose="020B0503020204020204" charset="-122"/>
              </a:rPr>
              <a:t>   · v3.1版本紧急回退至v3.0</a:t>
            </a:r>
            <a:endParaRPr sz="1000">
              <a:solidFill>
                <a:srgbClr val="1F2A44"/>
              </a:solidFill>
              <a:latin typeface="微软雅黑" panose="020B0503020204020204" charset="-122"/>
            </a:endParaRP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F2A44"/>
                </a:solidFill>
                <a:latin typeface="微软雅黑" panose="020B0503020204020204" charset="-122"/>
              </a:rPr>
              <a:t>   · 已购用户投诉增加（工单40→96条/月）</a:t>
            </a:r>
            <a:endParaRPr sz="1000">
              <a:solidFill>
                <a:srgbClr val="1F2A44"/>
              </a:solidFill>
              <a:latin typeface="微软雅黑" panose="020B0503020204020204" charset="-122"/>
            </a:endParaRP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F2A44"/>
                </a:solidFill>
                <a:latin typeface="微软雅黑" panose="020B0503020204020204" charset="-122"/>
              </a:rPr>
              <a:t>3. 通义灵码免费策略叠加影响</a:t>
            </a:r>
            <a:endParaRPr sz="1000">
              <a:solidFill>
                <a:srgbClr val="1F2A44"/>
              </a:solidFill>
              <a:latin typeface="微软雅黑" panose="020B0503020204020204" charset="-122"/>
            </a:endParaRP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F2A44"/>
                </a:solidFill>
                <a:latin typeface="微软雅黑" panose="020B0503020204020204" charset="-122"/>
              </a:rPr>
              <a:t>   · 通义灵码免费额度增加</a:t>
            </a:r>
            <a:endParaRPr sz="1000">
              <a:solidFill>
                <a:srgbClr val="1F2A44"/>
              </a:solidFill>
              <a:latin typeface="微软雅黑" panose="020B0503020204020204" charset="-122"/>
            </a:endParaRP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F2A44"/>
                </a:solidFill>
                <a:latin typeface="微软雅黑" panose="020B0503020204020204" charset="-122"/>
              </a:rPr>
              <a:t>   · P03付费价值相对降低</a:t>
            </a:r>
            <a:endParaRPr sz="1000">
              <a:solidFill>
                <a:srgbClr val="1F2A44"/>
              </a:solidFill>
              <a:latin typeface="微软雅黑" panose="020B0503020204020204" charset="-122"/>
            </a:endParaRP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F2A44"/>
                </a:solidFill>
                <a:latin typeface="微软雅黑" panose="020B0503020204020204" charset="-122"/>
              </a:rPr>
              <a:t>   · 部分用户转向免费替代方案</a:t>
            </a:r>
            <a:endParaRPr sz="1000">
              <a:solidFill>
                <a:srgbClr val="1F2A44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309360" y="201168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8C42"/>
                </a:solidFill>
                <a:latin typeface="微软雅黑" panose="020B0503020204020204" charset="-122"/>
              </a:rPr>
              <a:t>墨文创作台使用数据对比</a:t>
            </a:r>
            <a:endParaRPr sz="1300" b="1">
              <a:solidFill>
                <a:srgbClr val="FF8C42"/>
              </a:solidFill>
              <a:latin typeface="微软雅黑" panose="020B0503020204020204" charset="-122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309360" y="2286000"/>
          <a:ext cx="53949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8740"/>
                <a:gridCol w="1348740"/>
                <a:gridCol w="1348740"/>
                <a:gridCol w="134874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月份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2E5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调用频次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2E5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效率评分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2E5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备注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2E5B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  <a:latin typeface="微软雅黑" panose="020B0503020204020204" charset="-122"/>
                        </a:rPr>
                        <a:t>3月</a:t>
                      </a:r>
                      <a:endParaRPr sz="1100">
                        <a:solidFill>
                          <a:srgbClr val="1F2A44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  <a:latin typeface="微软雅黑" panose="020B0503020204020204" charset="-122"/>
                        </a:rPr>
                        <a:t>4600次</a:t>
                      </a:r>
                      <a:endParaRPr sz="1100">
                        <a:solidFill>
                          <a:srgbClr val="1F2A44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  <a:latin typeface="微软雅黑" panose="020B0503020204020204" charset="-122"/>
                        </a:rPr>
                        <a:t>4.6</a:t>
                      </a:r>
                      <a:endParaRPr sz="1100">
                        <a:solidFill>
                          <a:srgbClr val="1F2A44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  <a:latin typeface="微软雅黑" panose="020B0503020204020204" charset="-122"/>
                        </a:rPr>
                        <a:t>v2稳定期</a:t>
                      </a:r>
                      <a:endParaRPr sz="1100">
                        <a:solidFill>
                          <a:srgbClr val="1F2A44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  <a:latin typeface="微软雅黑" panose="020B0503020204020204" charset="-122"/>
                        </a:rPr>
                        <a:t>4月</a:t>
                      </a:r>
                      <a:endParaRPr sz="1100">
                        <a:solidFill>
                          <a:srgbClr val="1F2A44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  <a:latin typeface="微软雅黑" panose="020B0503020204020204" charset="-122"/>
                        </a:rPr>
                        <a:t>5100次</a:t>
                      </a:r>
                      <a:endParaRPr sz="1100">
                        <a:solidFill>
                          <a:srgbClr val="1F2A44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  <a:latin typeface="微软雅黑" panose="020B0503020204020204" charset="-122"/>
                        </a:rPr>
                        <a:t>4.3</a:t>
                      </a:r>
                      <a:endParaRPr sz="1100">
                        <a:solidFill>
                          <a:srgbClr val="1F2A44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  <a:latin typeface="微软雅黑" panose="020B0503020204020204" charset="-122"/>
                        </a:rPr>
                        <a:t>v3发布</a:t>
                      </a:r>
                      <a:endParaRPr sz="1100">
                        <a:solidFill>
                          <a:srgbClr val="1F2A44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2F5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  <a:latin typeface="微软雅黑" panose="020B0503020204020204" charset="-122"/>
                        </a:rPr>
                        <a:t>5月</a:t>
                      </a:r>
                      <a:endParaRPr sz="1100">
                        <a:solidFill>
                          <a:srgbClr val="1F2A44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  <a:latin typeface="微软雅黑" panose="020B0503020204020204" charset="-122"/>
                        </a:rPr>
                        <a:t>3000次</a:t>
                      </a:r>
                      <a:endParaRPr sz="1100">
                        <a:solidFill>
                          <a:srgbClr val="1F2A44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  <a:latin typeface="微软雅黑" panose="020B0503020204020204" charset="-122"/>
                        </a:rPr>
                        <a:t>3.2</a:t>
                      </a:r>
                      <a:endParaRPr sz="1100">
                        <a:solidFill>
                          <a:srgbClr val="1F2A44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  <a:latin typeface="微软雅黑" panose="020B0503020204020204" charset="-122"/>
                        </a:rPr>
                        <a:t>兼容性问题</a:t>
                      </a:r>
                      <a:endParaRPr sz="1100">
                        <a:solidFill>
                          <a:srgbClr val="1F2A44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  <a:latin typeface="微软雅黑" panose="020B0503020204020204" charset="-122"/>
                        </a:rPr>
                        <a:t>6月</a:t>
                      </a:r>
                      <a:endParaRPr sz="1100">
                        <a:solidFill>
                          <a:srgbClr val="1F2A44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  <a:latin typeface="微软雅黑" panose="020B0503020204020204" charset="-122"/>
                        </a:rPr>
                        <a:t>2600次</a:t>
                      </a:r>
                      <a:endParaRPr sz="1100">
                        <a:solidFill>
                          <a:srgbClr val="1F2A44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  <a:latin typeface="微软雅黑" panose="020B0503020204020204" charset="-122"/>
                        </a:rPr>
                        <a:t>3.5</a:t>
                      </a:r>
                      <a:endParaRPr sz="1100">
                        <a:solidFill>
                          <a:srgbClr val="1F2A44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  <a:latin typeface="微软雅黑" panose="020B0503020204020204" charset="-122"/>
                        </a:rPr>
                        <a:t>适配后恢复中</a:t>
                      </a:r>
                      <a:endParaRPr sz="1100">
                        <a:solidFill>
                          <a:srgbClr val="1F2A44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2F5FC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B778F"/>
                </a:solidFill>
                <a:latin typeface="微软雅黑" panose="020B0503020204020204" charset="-122"/>
              </a:rPr>
              <a:t>青禾工作室 · 2026年Q2运营分析 · 编制人周然</a:t>
            </a:r>
            <a:endParaRPr sz="900" b="0">
              <a:solidFill>
                <a:srgbClr val="6B778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 panose="020B0503020204020204" charset="-122"/>
              </a:rPr>
              <a:t>产品迭代记录与评审</a:t>
            </a:r>
            <a:endParaRPr sz="2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78F"/>
                </a:solidFill>
                <a:latin typeface="微软雅黑" panose="020B0503020204020204" charset="-122"/>
              </a:rPr>
              <a:t>以下编号信息仅在本PPT中记录，其他文档不包含</a:t>
            </a:r>
            <a:endParaRPr sz="1100" b="0">
              <a:solidFill>
                <a:srgbClr val="6B778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56692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 b="1">
                <a:solidFill>
                  <a:srgbClr val="1F2A44"/>
                </a:solidFill>
                <a:latin typeface="微软雅黑" panose="020B0503020204020204" charset="-122"/>
              </a:rPr>
              <a:t>产品迭代记录</a:t>
            </a:r>
            <a:endParaRPr sz="1000" b="1">
              <a:solidFill>
                <a:srgbClr val="1F2A44"/>
              </a:solidFill>
              <a:latin typeface="微软雅黑" panose="020B0503020204020204" charset="-122"/>
            </a:endParaRP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44"/>
                </a:solidFill>
                <a:latin typeface="微软雅黑" panose="020B0503020204020204" charset="-122"/>
              </a:rPr>
              <a:t>迭代记录号：IT-2026-008</a:t>
            </a:r>
            <a:endParaRPr sz="1000" b="0">
              <a:solidFill>
                <a:srgbClr val="1F2A44"/>
              </a:solidFill>
              <a:latin typeface="微软雅黑" panose="020B0503020204020204" charset="-122"/>
            </a:endParaRP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44"/>
                </a:solidFill>
                <a:latin typeface="微软雅黑" panose="020B0503020204020204" charset="-122"/>
              </a:rPr>
              <a:t>记录日期：2026-05-20</a:t>
            </a:r>
            <a:endParaRPr sz="1000" b="0">
              <a:solidFill>
                <a:srgbClr val="1F2A44"/>
              </a:solidFill>
              <a:latin typeface="微软雅黑" panose="020B0503020204020204" charset="-122"/>
            </a:endParaRP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44"/>
                </a:solidFill>
                <a:latin typeface="微软雅黑" panose="020B0503020204020204" charset="-122"/>
              </a:rPr>
              <a:t>产品：灵犀写作插件(P03)</a:t>
            </a:r>
            <a:endParaRPr sz="1000" b="0">
              <a:solidFill>
                <a:srgbClr val="1F2A44"/>
              </a:solidFill>
              <a:latin typeface="微软雅黑" panose="020B0503020204020204" charset="-122"/>
            </a:endParaRP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44"/>
                </a:solidFill>
                <a:latin typeface="微软雅黑" panose="020B0503020204020204" charset="-122"/>
              </a:rPr>
              <a:t>迭代内容：v3.2发布，适配墨文v3</a:t>
            </a:r>
            <a:endParaRPr sz="1000" b="0">
              <a:solidFill>
                <a:srgbClr val="1F2A44"/>
              </a:solidFill>
              <a:latin typeface="微软雅黑" panose="020B0503020204020204" charset="-122"/>
            </a:endParaRP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44"/>
                </a:solidFill>
                <a:latin typeface="微软雅黑" panose="020B0503020204020204" charset="-122"/>
              </a:rPr>
              <a:t>迭代状态：已完成</a:t>
            </a:r>
            <a:endParaRPr sz="1000" b="0">
              <a:solidFill>
                <a:srgbClr val="1F2A44"/>
              </a:solidFill>
              <a:latin typeface="微软雅黑" panose="020B0503020204020204" charset="-122"/>
            </a:endParaRP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44"/>
                </a:solidFill>
                <a:latin typeface="微软雅黑" panose="020B0503020204020204" charset="-122"/>
              </a:rPr>
              <a:t>负责人：周然</a:t>
            </a:r>
            <a:endParaRPr sz="1000" b="0">
              <a:solidFill>
                <a:srgbClr val="1F2A44"/>
              </a:solidFill>
              <a:latin typeface="微软雅黑" panose="020B0503020204020204" charset="-122"/>
            </a:endParaRP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44"/>
                </a:solidFill>
                <a:latin typeface="微软雅黑" panose="020B0503020204020204" charset="-122"/>
              </a:rPr>
              <a:t>关联变更编号：CHG-020</a:t>
            </a:r>
            <a:endParaRPr sz="1000" b="0">
              <a:solidFill>
                <a:srgbClr val="1F2A44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0" y="141732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 b="1">
                <a:solidFill>
                  <a:srgbClr val="1F2A44"/>
                </a:solidFill>
                <a:latin typeface="微软雅黑" panose="020B0503020204020204" charset="-122"/>
              </a:rPr>
              <a:t>产品评审记录</a:t>
            </a:r>
            <a:endParaRPr sz="1000" b="1">
              <a:solidFill>
                <a:srgbClr val="1F2A44"/>
              </a:solidFill>
              <a:latin typeface="微软雅黑" panose="020B0503020204020204" charset="-122"/>
            </a:endParaRP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44"/>
                </a:solidFill>
                <a:latin typeface="微软雅黑" panose="020B0503020204020204" charset="-122"/>
              </a:rPr>
              <a:t>评审编号：RV-2026-0412</a:t>
            </a:r>
            <a:endParaRPr sz="1000" b="0">
              <a:solidFill>
                <a:srgbClr val="1F2A44"/>
              </a:solidFill>
              <a:latin typeface="微软雅黑" panose="020B0503020204020204" charset="-122"/>
            </a:endParaRP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44"/>
                </a:solidFill>
                <a:latin typeface="微软雅黑" panose="020B0503020204020204" charset="-122"/>
              </a:rPr>
              <a:t>评审日期：2026-04-12</a:t>
            </a:r>
            <a:endParaRPr sz="1000" b="0">
              <a:solidFill>
                <a:srgbClr val="1F2A44"/>
              </a:solidFill>
              <a:latin typeface="微软雅黑" panose="020B0503020204020204" charset="-122"/>
            </a:endParaRP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44"/>
                </a:solidFill>
                <a:latin typeface="微软雅黑" panose="020B0503020204020204" charset="-122"/>
              </a:rPr>
              <a:t>评审主题：定价策略变更方案评审</a:t>
            </a:r>
            <a:endParaRPr sz="1000" b="0">
              <a:solidFill>
                <a:srgbClr val="1F2A44"/>
              </a:solidFill>
              <a:latin typeface="微软雅黑" panose="020B0503020204020204" charset="-122"/>
            </a:endParaRP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44"/>
                </a:solidFill>
                <a:latin typeface="微软雅黑" panose="020B0503020204020204" charset="-122"/>
              </a:rPr>
              <a:t>评审结论：通过（附条件：课程类产品维持原价）</a:t>
            </a:r>
            <a:endParaRPr sz="1000" b="0">
              <a:solidFill>
                <a:srgbClr val="1F2A44"/>
              </a:solidFill>
              <a:latin typeface="微软雅黑" panose="020B0503020204020204" charset="-122"/>
            </a:endParaRP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44"/>
                </a:solidFill>
                <a:latin typeface="微软雅黑" panose="020B0503020204020204" charset="-122"/>
              </a:rPr>
              <a:t>评审人：周然</a:t>
            </a:r>
            <a:endParaRPr sz="1000" b="0">
              <a:solidFill>
                <a:srgbClr val="1F2A44"/>
              </a:solidFill>
              <a:latin typeface="微软雅黑" panose="020B0503020204020204" charset="-122"/>
            </a:endParaRP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44"/>
                </a:solidFill>
                <a:latin typeface="微软雅黑" panose="020B0503020204020204" charset="-122"/>
              </a:rPr>
              <a:t>关联变更编号：CHG-014</a:t>
            </a:r>
            <a:endParaRPr sz="1000" b="0">
              <a:solidFill>
                <a:srgbClr val="1F2A44"/>
              </a:solidFill>
              <a:latin typeface="微软雅黑" panose="020B0503020204020204" charset="-122"/>
            </a:endParaRP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44"/>
                </a:solidFill>
                <a:latin typeface="微软雅黑" panose="020B0503020204020204" charset="-122"/>
              </a:rPr>
              <a:t>注：此编号亦用于2026-05-26创意素材包V3质量反馈处理单（编号重复使用）</a:t>
            </a:r>
            <a:endParaRPr sz="1000" b="0">
              <a:solidFill>
                <a:srgbClr val="1F2A44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420624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8C42"/>
                </a:solidFill>
                <a:latin typeface="微软雅黑" panose="020B0503020204020204" charset="-122"/>
              </a:rPr>
              <a:t>Q2产品迭代全览</a:t>
            </a:r>
            <a:endParaRPr sz="1300" b="1">
              <a:solidFill>
                <a:srgbClr val="FF8C42"/>
              </a:solidFill>
              <a:latin typeface="微软雅黑" panose="020B0503020204020204" charset="-122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4526280"/>
          <a:ext cx="1106424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248194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迭代记录号</a:t>
                      </a:r>
                      <a:endParaRPr sz="10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2E5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日期</a:t>
                      </a:r>
                      <a:endParaRPr sz="10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2E5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产品</a:t>
                      </a:r>
                      <a:endParaRPr sz="10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2E5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迭代内容</a:t>
                      </a:r>
                      <a:endParaRPr sz="10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2E5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状态</a:t>
                      </a:r>
                      <a:endParaRPr sz="10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2E5BFF"/>
                    </a:solidFill>
                  </a:tcPr>
                </a:tc>
              </a:tr>
              <a:tr h="24819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A44"/>
                          </a:solidFill>
                          <a:latin typeface="微软雅黑" panose="020B0503020204020204" charset="-122"/>
                        </a:rPr>
                        <a:t>IT-2026-005</a:t>
                      </a:r>
                      <a:endParaRPr sz="1000">
                        <a:solidFill>
                          <a:srgbClr val="1F2A44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A44"/>
                          </a:solidFill>
                          <a:latin typeface="微软雅黑" panose="020B0503020204020204" charset="-122"/>
                        </a:rPr>
                        <a:t>2026-04-10</a:t>
                      </a:r>
                      <a:endParaRPr sz="1000">
                        <a:solidFill>
                          <a:srgbClr val="1F2A44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A44"/>
                          </a:solidFill>
                          <a:latin typeface="微软雅黑" panose="020B0503020204020204" charset="-122"/>
                        </a:rPr>
                        <a:t>灵记日记</a:t>
                      </a:r>
                      <a:endParaRPr sz="1000">
                        <a:solidFill>
                          <a:srgbClr val="1F2A44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A44"/>
                          </a:solidFill>
                          <a:latin typeface="微软雅黑" panose="020B0503020204020204" charset="-122"/>
                        </a:rPr>
                        <a:t>订阅制定价适配</a:t>
                      </a:r>
                      <a:endParaRPr sz="1000">
                        <a:solidFill>
                          <a:srgbClr val="1F2A44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A44"/>
                          </a:solidFill>
                          <a:latin typeface="微软雅黑" panose="020B0503020204020204" charset="-122"/>
                        </a:rPr>
                        <a:t>已完成</a:t>
                      </a:r>
                      <a:endParaRPr sz="1000">
                        <a:solidFill>
                          <a:srgbClr val="1F2A44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819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A44"/>
                          </a:solidFill>
                          <a:latin typeface="微软雅黑" panose="020B0503020204020204" charset="-122"/>
                        </a:rPr>
                        <a:t>IT-2026-006</a:t>
                      </a:r>
                      <a:endParaRPr sz="1000">
                        <a:solidFill>
                          <a:srgbClr val="1F2A44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A44"/>
                          </a:solidFill>
                          <a:latin typeface="微软雅黑" panose="020B0503020204020204" charset="-122"/>
                        </a:rPr>
                        <a:t>2026-04-12</a:t>
                      </a:r>
                      <a:endParaRPr sz="1000">
                        <a:solidFill>
                          <a:srgbClr val="1F2A44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A44"/>
                          </a:solidFill>
                          <a:latin typeface="微软雅黑" panose="020B0503020204020204" charset="-122"/>
                        </a:rPr>
                        <a:t>灵犀写作插件</a:t>
                      </a:r>
                      <a:endParaRPr sz="1000">
                        <a:solidFill>
                          <a:srgbClr val="1F2A44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A44"/>
                          </a:solidFill>
                          <a:latin typeface="微软雅黑" panose="020B0503020204020204" charset="-122"/>
                        </a:rPr>
                        <a:t>订阅制定价适配</a:t>
                      </a:r>
                      <a:endParaRPr sz="1000">
                        <a:solidFill>
                          <a:srgbClr val="1F2A44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A44"/>
                          </a:solidFill>
                          <a:latin typeface="微软雅黑" panose="020B0503020204020204" charset="-122"/>
                        </a:rPr>
                        <a:t>已完成</a:t>
                      </a:r>
                      <a:endParaRPr sz="1000">
                        <a:solidFill>
                          <a:srgbClr val="1F2A44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2F5FC"/>
                    </a:solidFill>
                  </a:tcPr>
                </a:tc>
              </a:tr>
              <a:tr h="24819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A44"/>
                          </a:solidFill>
                          <a:latin typeface="微软雅黑" panose="020B0503020204020204" charset="-122"/>
                        </a:rPr>
                        <a:t>IT-2026-007</a:t>
                      </a:r>
                      <a:endParaRPr sz="1000">
                        <a:solidFill>
                          <a:srgbClr val="1F2A44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A44"/>
                          </a:solidFill>
                          <a:latin typeface="微软雅黑" panose="020B0503020204020204" charset="-122"/>
                        </a:rPr>
                        <a:t>2026-05-22</a:t>
                      </a:r>
                      <a:endParaRPr sz="1000">
                        <a:solidFill>
                          <a:srgbClr val="1F2A44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A44"/>
                          </a:solidFill>
                          <a:latin typeface="微软雅黑" panose="020B0503020204020204" charset="-122"/>
                        </a:rPr>
                        <a:t>创意素材包V3</a:t>
                      </a:r>
                      <a:endParaRPr sz="1000">
                        <a:solidFill>
                          <a:srgbClr val="1F2A44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A44"/>
                          </a:solidFill>
                          <a:latin typeface="微软雅黑" panose="020B0503020204020204" charset="-122"/>
                        </a:rPr>
                        <a:t>新品上线v1.0</a:t>
                      </a:r>
                      <a:endParaRPr sz="1000">
                        <a:solidFill>
                          <a:srgbClr val="1F2A44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A44"/>
                          </a:solidFill>
                          <a:latin typeface="微软雅黑" panose="020B0503020204020204" charset="-122"/>
                        </a:rPr>
                        <a:t>已完成</a:t>
                      </a:r>
                      <a:endParaRPr sz="1000">
                        <a:solidFill>
                          <a:srgbClr val="1F2A44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819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A44"/>
                          </a:solidFill>
                          <a:latin typeface="微软雅黑" panose="020B0503020204020204" charset="-122"/>
                        </a:rPr>
                        <a:t>IT-2026-008</a:t>
                      </a:r>
                      <a:endParaRPr sz="1000">
                        <a:solidFill>
                          <a:srgbClr val="1F2A44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A44"/>
                          </a:solidFill>
                          <a:latin typeface="微软雅黑" panose="020B0503020204020204" charset="-122"/>
                        </a:rPr>
                        <a:t>2026-05-20</a:t>
                      </a:r>
                      <a:endParaRPr sz="1000">
                        <a:solidFill>
                          <a:srgbClr val="1F2A44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A44"/>
                          </a:solidFill>
                          <a:latin typeface="微软雅黑" panose="020B0503020204020204" charset="-122"/>
                        </a:rPr>
                        <a:t>灵犀写作插件</a:t>
                      </a:r>
                      <a:endParaRPr sz="1000">
                        <a:solidFill>
                          <a:srgbClr val="1F2A44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A44"/>
                          </a:solidFill>
                          <a:latin typeface="微软雅黑" panose="020B0503020204020204" charset="-122"/>
                        </a:rPr>
                        <a:t>v3.2适配墨文v3</a:t>
                      </a:r>
                      <a:endParaRPr sz="1000">
                        <a:solidFill>
                          <a:srgbClr val="1F2A44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A44"/>
                          </a:solidFill>
                          <a:latin typeface="微软雅黑" panose="020B0503020204020204" charset="-122"/>
                        </a:rPr>
                        <a:t>已完成</a:t>
                      </a:r>
                      <a:endParaRPr sz="1000">
                        <a:solidFill>
                          <a:srgbClr val="1F2A44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2F5FC"/>
                    </a:solidFill>
                  </a:tcPr>
                </a:tc>
              </a:tr>
              <a:tr h="24819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A44"/>
                          </a:solidFill>
                          <a:latin typeface="微软雅黑" panose="020B0503020204020204" charset="-122"/>
                        </a:rPr>
                        <a:t>IT-2026-009</a:t>
                      </a:r>
                      <a:endParaRPr sz="1000">
                        <a:solidFill>
                          <a:srgbClr val="1F2A44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A44"/>
                          </a:solidFill>
                          <a:latin typeface="微软雅黑" panose="020B0503020204020204" charset="-122"/>
                        </a:rPr>
                        <a:t>2026-06-10</a:t>
                      </a:r>
                      <a:endParaRPr sz="1000">
                        <a:solidFill>
                          <a:srgbClr val="1F2A44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A44"/>
                          </a:solidFill>
                          <a:latin typeface="微软雅黑" panose="020B0503020204020204" charset="-122"/>
                        </a:rPr>
                        <a:t>创意素材包V3</a:t>
                      </a:r>
                      <a:endParaRPr sz="1000">
                        <a:solidFill>
                          <a:srgbClr val="1F2A44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A44"/>
                          </a:solidFill>
                          <a:latin typeface="微软雅黑" panose="020B0503020204020204" charset="-122"/>
                        </a:rPr>
                        <a:t>v1.1修复渲染问题</a:t>
                      </a:r>
                      <a:endParaRPr sz="1000">
                        <a:solidFill>
                          <a:srgbClr val="1F2A44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A44"/>
                          </a:solidFill>
                          <a:latin typeface="微软雅黑" panose="020B0503020204020204" charset="-122"/>
                        </a:rPr>
                        <a:t>已完成</a:t>
                      </a:r>
                      <a:endParaRPr sz="1000">
                        <a:solidFill>
                          <a:srgbClr val="1F2A44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8196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A44"/>
                          </a:solidFill>
                          <a:latin typeface="微软雅黑" panose="020B0503020204020204" charset="-122"/>
                        </a:rPr>
                        <a:t>IT-2026-010</a:t>
                      </a:r>
                      <a:endParaRPr sz="1000">
                        <a:solidFill>
                          <a:srgbClr val="1F2A44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A44"/>
                          </a:solidFill>
                          <a:latin typeface="微软雅黑" panose="020B0503020204020204" charset="-122"/>
                        </a:rPr>
                        <a:t>2026-06-20</a:t>
                      </a:r>
                      <a:endParaRPr sz="1000">
                        <a:solidFill>
                          <a:srgbClr val="1F2A44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A44"/>
                          </a:solidFill>
                          <a:latin typeface="微软雅黑" panose="020B0503020204020204" charset="-122"/>
                        </a:rPr>
                        <a:t>周报精灵</a:t>
                      </a:r>
                      <a:endParaRPr sz="1000">
                        <a:solidFill>
                          <a:srgbClr val="1F2A44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A44"/>
                          </a:solidFill>
                          <a:latin typeface="微软雅黑" panose="020B0503020204020204" charset="-122"/>
                        </a:rPr>
                        <a:t>文案助手功能整合</a:t>
                      </a:r>
                      <a:endParaRPr sz="1000">
                        <a:solidFill>
                          <a:srgbClr val="1F2A44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A44"/>
                          </a:solidFill>
                          <a:latin typeface="微软雅黑" panose="020B0503020204020204" charset="-122"/>
                        </a:rPr>
                        <a:t>进行中</a:t>
                      </a:r>
                      <a:endParaRPr sz="1000">
                        <a:solidFill>
                          <a:srgbClr val="1F2A44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2F5F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B778F"/>
                </a:solidFill>
                <a:latin typeface="微软雅黑" panose="020B0503020204020204" charset="-122"/>
              </a:rPr>
              <a:t>青禾工作室 · 2026年Q2运营分析 · 编制人周然</a:t>
            </a:r>
            <a:endParaRPr sz="900" b="0">
              <a:solidFill>
                <a:srgbClr val="6B778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 panose="020B0503020204020204" charset="-122"/>
              </a:rPr>
              <a:t>Q2策略复盘与调整建议</a:t>
            </a:r>
            <a:endParaRPr sz="2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5BFF"/>
                </a:solidFill>
                <a:latin typeface="微软雅黑" panose="020B0503020204020204" charset="-122"/>
              </a:rPr>
              <a:t>1. 定价策略优化</a:t>
            </a:r>
            <a:endParaRPr sz="1400" b="1">
              <a:solidFill>
                <a:srgbClr val="2E5B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34416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A44"/>
                </a:solidFill>
                <a:latin typeface="微软雅黑" panose="020B0503020204020204" charset="-122"/>
              </a:rPr>
              <a:t>订阅制长期LTV更优但短期流失严重，建议：· 新用户首月免费试用，降低转化阻力 · 年付方案8折优惠，提升留存 · 老用户过渡期3个月保持原价</a:t>
            </a:r>
            <a:endParaRPr sz="1000" b="0">
              <a:solidFill>
                <a:srgbClr val="1F2A44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5BFF"/>
                </a:solidFill>
                <a:latin typeface="微软雅黑" panose="020B0503020204020204" charset="-122"/>
              </a:rPr>
              <a:t>2. 兼容性风险应对</a:t>
            </a:r>
            <a:endParaRPr sz="1400" b="1">
              <a:solidFill>
                <a:srgbClr val="2E5BFF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230428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A44"/>
                </a:solidFill>
                <a:latin typeface="微软雅黑" panose="020B0503020204020204" charset="-122"/>
              </a:rPr>
              <a:t>墨文v4即将发布，需提前适配：· 建立墨文版本变更监控机制 · 预留2周适配窗口 · 与墨文团队建立技术沟通渠道</a:t>
            </a:r>
            <a:endParaRPr sz="1000" b="0">
              <a:solidFill>
                <a:srgbClr val="1F2A44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297180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5BFF"/>
                </a:solidFill>
                <a:latin typeface="微软雅黑" panose="020B0503020204020204" charset="-122"/>
              </a:rPr>
              <a:t>3. 产品线整合</a:t>
            </a:r>
            <a:endParaRPr sz="1400" b="1">
              <a:solidFill>
                <a:srgbClr val="2E5BFF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326440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A44"/>
                </a:solidFill>
                <a:latin typeface="微软雅黑" panose="020B0503020204020204" charset="-122"/>
              </a:rPr>
              <a:t>减少产品分散，聚焦核心产品：· 文案助手已并入周报精灵（完成） · 评估导图工具是否并入灵记日记 · V3稳定性修复后逐步替代V2用户</a:t>
            </a:r>
            <a:endParaRPr sz="1000" b="0">
              <a:solidFill>
                <a:srgbClr val="1F2A44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393192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5BFF"/>
                </a:solidFill>
                <a:latin typeface="微软雅黑" panose="020B0503020204020204" charset="-122"/>
              </a:rPr>
              <a:t>4. 客户留存策略</a:t>
            </a:r>
            <a:endParaRPr sz="1400" b="1">
              <a:solidFill>
                <a:srgbClr val="2E5BFF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48640" y="422452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A44"/>
                </a:solidFill>
                <a:latin typeface="微软雅黑" panose="020B0503020204020204" charset="-122"/>
              </a:rPr>
              <a:t>续费率下降核心应对：· 建立客户成功机制，主动跟进 · P03用户专属兼容性公告和补偿 · V3用户免费获得v1.1修复版</a:t>
            </a:r>
            <a:endParaRPr sz="1000" b="0">
              <a:solidFill>
                <a:srgbClr val="1F2A44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" y="498348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1">
                <a:solidFill>
                  <a:srgbClr val="6B778F"/>
                </a:solidFill>
                <a:latin typeface="微软雅黑" panose="020B0503020204020204" charset="-122"/>
              </a:rPr>
              <a:t>PPT独有记录：</a:t>
            </a:r>
            <a:endParaRPr sz="1000" b="1">
              <a:solidFill>
                <a:srgbClr val="6B778F"/>
              </a:solidFill>
              <a:latin typeface="微软雅黑" panose="020B0503020204020204" charset="-122"/>
            </a:endParaRP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6B778F"/>
                </a:solidFill>
                <a:latin typeface="微软雅黑" panose="020B0503020204020204" charset="-122"/>
              </a:rPr>
              <a:t>· 迭代记录号IT-2026-008对应灵犀写作插件v3.2适配墨文v3的迭代（仅PPT记录，其他文档无此编号）</a:t>
            </a:r>
            <a:endParaRPr sz="1000" b="0">
              <a:solidFill>
                <a:srgbClr val="6B778F"/>
              </a:solidFill>
              <a:latin typeface="微软雅黑" panose="020B0503020204020204" charset="-122"/>
            </a:endParaRP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6B778F"/>
                </a:solidFill>
                <a:latin typeface="微软雅黑" panose="020B0503020204020204" charset="-122"/>
              </a:rPr>
              <a:t>· 评审编号RV-2026-0412用于定价策略变更评审（仅PPT记录），同一编号在5月26日亦用于创意素材包V3质量反馈处理单</a:t>
            </a:r>
            <a:endParaRPr sz="1000" b="0">
              <a:solidFill>
                <a:srgbClr val="6B778F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B778F"/>
                </a:solidFill>
                <a:latin typeface="微软雅黑" panose="020B0503020204020204" charset="-122"/>
              </a:rPr>
              <a:t>青禾工作室 · 2026年Q2运营分析 · 编制人周然</a:t>
            </a:r>
            <a:endParaRPr sz="900" b="0">
              <a:solidFill>
                <a:srgbClr val="6B778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3104</Words>
  <Application>WPS 演示</Application>
  <PresentationFormat>On-screen Show (4:3)</PresentationFormat>
  <Paragraphs>458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7" baseType="lpstr">
      <vt:lpstr>Arial</vt:lpstr>
      <vt:lpstr>宋体</vt:lpstr>
      <vt:lpstr>Wingdings</vt:lpstr>
      <vt:lpstr>Arial</vt:lpstr>
      <vt:lpstr>微软雅黑</vt:lpstr>
      <vt:lpstr>Noto Serif SC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逆</cp:lastModifiedBy>
  <cp:revision>2</cp:revision>
  <dcterms:created xsi:type="dcterms:W3CDTF">2013-01-27T09:14:00Z</dcterms:created>
  <dcterms:modified xsi:type="dcterms:W3CDTF">2026-10-11T08:05:34Z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D55U9H0F10002","ProduceID":"83b0c40e-96e5-43ec-ba9c-74c87ae1d337","ReservedCode1":"aac4d1dc-4ae8-4524-9543-30029062e35c","ContentPropagator":"001191110102MAD55U9H0F10002","PropagateID":"83b0c40e-96e5-43ec-ba9c-74c87ae1d337","ReservedCode2":"aac4d1dc-4ae8-4524-9543-30029062e35c"}</vt:lpwstr>
  </property>
  <property fmtid="{D5CDD505-2E9C-101B-9397-08002B2CF9AE}" pid="3" name="ICV">
    <vt:lpwstr>27FBC6CB0F534E4595706C64F4152FC6_12</vt:lpwstr>
  </property>
  <property fmtid="{D5CDD505-2E9C-101B-9397-08002B2CF9AE}" pid="4" name="KSOProductBuildVer">
    <vt:lpwstr>2052-12.1.0.28505</vt:lpwstr>
  </property>
</Properties>
</file>